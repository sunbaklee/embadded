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7DEA78-90FC-440F-92E6-0C331C3D6EC3}" v="5" dt="2026-06-14T07:58:36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7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hak lee" userId="dae49cffb1684b5c" providerId="LiveId" clId="{C0533032-F67D-4884-8516-CF67C85617E6}"/>
    <pc:docChg chg="undo custSel modSld">
      <pc:chgData name="sunhak lee" userId="dae49cffb1684b5c" providerId="LiveId" clId="{C0533032-F67D-4884-8516-CF67C85617E6}" dt="2026-06-14T08:00:21.582" v="30" actId="1076"/>
      <pc:docMkLst>
        <pc:docMk/>
      </pc:docMkLst>
      <pc:sldChg chg="delSp modSp mod">
        <pc:chgData name="sunhak lee" userId="dae49cffb1684b5c" providerId="LiveId" clId="{C0533032-F67D-4884-8516-CF67C85617E6}" dt="2026-06-14T08:00:11.719" v="28" actId="1076"/>
        <pc:sldMkLst>
          <pc:docMk/>
          <pc:sldMk cId="0" sldId="262"/>
        </pc:sldMkLst>
        <pc:spChg chg="mod">
          <ac:chgData name="sunhak lee" userId="dae49cffb1684b5c" providerId="LiveId" clId="{C0533032-F67D-4884-8516-CF67C85617E6}" dt="2026-06-14T07:58:19.693" v="11" actId="1076"/>
          <ac:spMkLst>
            <pc:docMk/>
            <pc:sldMk cId="0" sldId="262"/>
            <ac:spMk id="9" creationId="{00000000-0000-0000-0000-000000000000}"/>
          </ac:spMkLst>
        </pc:spChg>
        <pc:spChg chg="del">
          <ac:chgData name="sunhak lee" userId="dae49cffb1684b5c" providerId="LiveId" clId="{C0533032-F67D-4884-8516-CF67C85617E6}" dt="2026-06-14T07:58:16.443" v="10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unhak lee" userId="dae49cffb1684b5c" providerId="LiveId" clId="{C0533032-F67D-4884-8516-CF67C85617E6}" dt="2026-06-14T07:58:30.762" v="15" actId="113"/>
          <ac:spMkLst>
            <pc:docMk/>
            <pc:sldMk cId="0" sldId="262"/>
            <ac:spMk id="12" creationId="{00000000-0000-0000-0000-000000000000}"/>
          </ac:spMkLst>
        </pc:spChg>
        <pc:spChg chg="del">
          <ac:chgData name="sunhak lee" userId="dae49cffb1684b5c" providerId="LiveId" clId="{C0533032-F67D-4884-8516-CF67C85617E6}" dt="2026-06-14T07:58:24.987" v="13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unhak lee" userId="dae49cffb1684b5c" providerId="LiveId" clId="{C0533032-F67D-4884-8516-CF67C85617E6}" dt="2026-06-14T07:58:47.444" v="19" actId="113"/>
          <ac:spMkLst>
            <pc:docMk/>
            <pc:sldMk cId="0" sldId="262"/>
            <ac:spMk id="15" creationId="{00000000-0000-0000-0000-000000000000}"/>
          </ac:spMkLst>
        </pc:spChg>
        <pc:spChg chg="del">
          <ac:chgData name="sunhak lee" userId="dae49cffb1684b5c" providerId="LiveId" clId="{C0533032-F67D-4884-8516-CF67C85617E6}" dt="2026-06-14T07:58:39.702" v="17" actId="47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sunhak lee" userId="dae49cffb1684b5c" providerId="LiveId" clId="{C0533032-F67D-4884-8516-CF67C85617E6}" dt="2026-06-14T08:00:04.279" v="2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unhak lee" userId="dae49cffb1684b5c" providerId="LiveId" clId="{C0533032-F67D-4884-8516-CF67C85617E6}" dt="2026-06-14T08:00:04.004" v="24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unhak lee" userId="dae49cffb1684b5c" providerId="LiveId" clId="{C0533032-F67D-4884-8516-CF67C85617E6}" dt="2026-06-14T08:00:11.719" v="28" actId="1076"/>
          <ac:spMkLst>
            <pc:docMk/>
            <pc:sldMk cId="0" sldId="262"/>
            <ac:spMk id="21" creationId="{00000000-0000-0000-0000-000000000000}"/>
          </ac:spMkLst>
        </pc:spChg>
        <pc:picChg chg="mod">
          <ac:chgData name="sunhak lee" userId="dae49cffb1684b5c" providerId="LiveId" clId="{C0533032-F67D-4884-8516-CF67C85617E6}" dt="2026-06-14T07:57:41.898" v="0" actId="1076"/>
          <ac:picMkLst>
            <pc:docMk/>
            <pc:sldMk cId="0" sldId="262"/>
            <ac:picMk id="6" creationId="{00000000-0000-0000-0000-000000000000}"/>
          </ac:picMkLst>
        </pc:picChg>
      </pc:sldChg>
      <pc:sldChg chg="modSp mod">
        <pc:chgData name="sunhak lee" userId="dae49cffb1684b5c" providerId="LiveId" clId="{C0533032-F67D-4884-8516-CF67C85617E6}" dt="2026-06-14T08:00:17.076" v="29" actId="1076"/>
        <pc:sldMkLst>
          <pc:docMk/>
          <pc:sldMk cId="0" sldId="263"/>
        </pc:sldMkLst>
        <pc:picChg chg="mod">
          <ac:chgData name="sunhak lee" userId="dae49cffb1684b5c" providerId="LiveId" clId="{C0533032-F67D-4884-8516-CF67C85617E6}" dt="2026-06-14T08:00:17.076" v="29" actId="1076"/>
          <ac:picMkLst>
            <pc:docMk/>
            <pc:sldMk cId="0" sldId="263"/>
            <ac:picMk id="6" creationId="{00000000-0000-0000-0000-000000000000}"/>
          </ac:picMkLst>
        </pc:picChg>
      </pc:sldChg>
      <pc:sldChg chg="modSp mod">
        <pc:chgData name="sunhak lee" userId="dae49cffb1684b5c" providerId="LiveId" clId="{C0533032-F67D-4884-8516-CF67C85617E6}" dt="2026-06-14T08:00:21.582" v="30" actId="1076"/>
        <pc:sldMkLst>
          <pc:docMk/>
          <pc:sldMk cId="0" sldId="264"/>
        </pc:sldMkLst>
        <pc:picChg chg="mod">
          <ac:chgData name="sunhak lee" userId="dae49cffb1684b5c" providerId="LiveId" clId="{C0533032-F67D-4884-8516-CF67C85617E6}" dt="2026-06-14T08:00:21.582" v="30" actId="1076"/>
          <ac:picMkLst>
            <pc:docMk/>
            <pc:sldMk cId="0" sldId="264"/>
            <ac:picMk id="2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4"/>
          </a:solidFill>
          <a:ln w="12700">
            <a:solidFill>
              <a:srgbClr val="123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-502920"/>
            <a:ext cx="5212080" cy="7680960"/>
          </a:xfrm>
          <a:prstGeom prst="rect">
            <a:avLst/>
          </a:prstGeom>
          <a:solidFill>
            <a:srgbClr val="195B4C"/>
          </a:solidFill>
          <a:ln w="12700">
            <a:solidFill>
              <a:srgbClr val="19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200400" cy="5669280"/>
          </a:xfrm>
          <a:prstGeom prst="roundRect">
            <a:avLst/>
          </a:prstGeom>
          <a:solidFill>
            <a:srgbClr val="226F5C"/>
          </a:solidFill>
          <a:ln w="12700">
            <a:solidFill>
              <a:srgbClr val="2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5029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4D7A5"/>
                </a:solidFill>
                <a:latin typeface="맑은 고딕"/>
              </a:rPr>
              <a:t>EMBEDDED SYSTEM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6583680" cy="8229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맑은 고딕"/>
              </a:rPr>
              <a:t>IoT LoneCare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48840"/>
            <a:ext cx="6217920" cy="10972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E1F4ED"/>
                </a:solidFill>
                <a:latin typeface="맑은 고딕"/>
              </a:rPr>
              <a:t>비접촉식 IoT 센서 기반
고독사 예방 및 생활 안전 모니터링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66160"/>
            <a:ext cx="5760720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BDDED4"/>
                </a:solidFill>
                <a:latin typeface="맑은 고딕"/>
              </a:rPr>
              <a:t>카메라 없이 움직임과 재실 상태를 감지하고,
장시간 무활동 시 대응 절차를 연결합니다.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66751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BDDED4"/>
                </a:solidFill>
                <a:latin typeface="맑은 고딕"/>
              </a:rPr>
              <a:t>팀 올웨이즈(always)  |  동의대학교 응용소프트웨어공학과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078992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54D7A5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078992"/>
            <a:ext cx="164592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517904"/>
            <a:ext cx="21945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E1F4ED"/>
                </a:solidFill>
                <a:latin typeface="맑은 고딕"/>
              </a:rPr>
              <a:t>비접촉 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9191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ABE58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679191"/>
            <a:ext cx="164592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118103"/>
            <a:ext cx="21945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E1F4ED"/>
                </a:solidFill>
                <a:latin typeface="맑은 고딕"/>
              </a:rPr>
              <a:t>무활동 판정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279392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47480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279392"/>
            <a:ext cx="164592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718304"/>
            <a:ext cx="219456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E1F4ED"/>
                </a:solidFill>
                <a:latin typeface="맑은 고딕"/>
              </a:rPr>
              <a:t>안전 대응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프로젝트 배경과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계획서가 정의한 사회적 문제와 핵심 설계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55648"/>
            <a:ext cx="5394960" cy="4315968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5603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123C34"/>
                </a:solidFill>
                <a:latin typeface="맑은 고딕"/>
              </a:rPr>
              <a:t>기존 방식의 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49377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CC3946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87752"/>
            <a:ext cx="118872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A2421"/>
                </a:solidFill>
                <a:latin typeface="맑은 고딕"/>
              </a:rPr>
              <a:t>카메라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16936"/>
            <a:ext cx="356616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맑은 고딕"/>
              </a:rPr>
              <a:t>사생활 노출과 심리적 거부감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66160"/>
            <a:ext cx="49377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CC3946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118872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A2421"/>
                </a:solidFill>
                <a:latin typeface="맑은 고딕"/>
              </a:rPr>
              <a:t>웨어러블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77056"/>
            <a:ext cx="356616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맑은 고딕"/>
              </a:rPr>
              <a:t>착용·충전 등 지속적 참여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26280"/>
            <a:ext cx="49377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CC3946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07992"/>
            <a:ext cx="118872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A2421"/>
                </a:solidFill>
                <a:latin typeface="맑은 고딕"/>
              </a:rPr>
              <a:t>인력 중심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37176"/>
            <a:ext cx="356616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맑은 고딕"/>
              </a:rPr>
              <a:t>24시간 상시 대응과 확장성 한계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755648"/>
            <a:ext cx="5394960" cy="4315968"/>
          </a:xfrm>
          <a:prstGeom prst="roundRect">
            <a:avLst/>
          </a:prstGeom>
          <a:solidFill>
            <a:srgbClr val="123C34"/>
          </a:solidFill>
          <a:ln w="12700">
            <a:solidFill>
              <a:srgbClr val="123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011680"/>
            <a:ext cx="30175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맑은 고딕"/>
              </a:rPr>
              <a:t>LoneCare의 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606040"/>
            <a:ext cx="4389120" cy="10058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54D7A5"/>
                </a:solidFill>
                <a:latin typeface="맑은 고딕"/>
              </a:rPr>
              <a:t>카메라 없이
24시간 생활 안전을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86200"/>
            <a:ext cx="4480560" cy="160020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E1F4ED"/>
                </a:solidFill>
                <a:latin typeface="맑은 고딕"/>
              </a:defRPr>
            </a:pPr>
            <a:r>
              <a:t>•  PIR·압력·레이더 센서로 움직임과 재실 상태 수집</a:t>
            </a:r>
          </a:p>
          <a:p>
            <a:pPr>
              <a:spcAft>
                <a:spcPts val="1000"/>
              </a:spcAft>
              <a:defRPr sz="1350">
                <a:solidFill>
                  <a:srgbClr val="E1F4ED"/>
                </a:solidFill>
                <a:latin typeface="맑은 고딕"/>
              </a:defRPr>
            </a:pPr>
            <a:r>
              <a:t>•  12시간 무활동 기준으로 주의·위험 상태 자동 판정</a:t>
            </a:r>
          </a:p>
          <a:p>
            <a:pPr>
              <a:spcAft>
                <a:spcPts val="1000"/>
              </a:spcAft>
              <a:defRPr sz="1350">
                <a:solidFill>
                  <a:srgbClr val="E1F4ED"/>
                </a:solidFill>
                <a:latin typeface="맑은 고딕"/>
              </a:defRPr>
            </a:pPr>
            <a:r>
              <a:t>•  보호자·담당자·현장 확인으로 이어지는 대응 절차</a:t>
            </a:r>
          </a:p>
          <a:p>
            <a:pPr>
              <a:spcAft>
                <a:spcPts val="1000"/>
              </a:spcAft>
              <a:defRPr sz="1350">
                <a:solidFill>
                  <a:srgbClr val="E1F4ED"/>
                </a:solidFill>
                <a:latin typeface="맑은 고딕"/>
              </a:defRPr>
            </a:pPr>
            <a:r>
              <a:t>•  다수 가구를 한 화면에서 관리하는 웹 관제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근거: 임베디드시스템 프로젝트 계획서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계획 대비 현재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초기 목표를 유지하면서 운영 기능을 확장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5349240" cy="434340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E8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21031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3E7ED1"/>
                </a:solidFill>
                <a:latin typeface="맑은 고딕"/>
              </a:rPr>
              <a:t>계획서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719072"/>
            <a:ext cx="5349240" cy="4343400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8" y="1965960"/>
            <a:ext cx="21031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68B67"/>
                </a:solidFill>
                <a:latin typeface="맑은 고딕"/>
              </a:rPr>
              <a:t>현재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572000" cy="260604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PIR + 압력 센서 기반 활동 감지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ESP32/아두이노 → 라즈베리 파이 → 웹 서버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12시간 무활동 시 이상 징후 판정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보호자·관리 기관에 경고 알림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실시간 대시보드와 다가구 관제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572000" cy="260604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LD2410 레이더까지 확장한 재실·움직임 감지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FastAPI + SQLite + Docker 기반 단일 서버 구성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상태·알림·장치·보고서·시뮬레이션 API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보호자 → 관리자 → 현장 방문 단계별 워크플로</a:t>
            </a:r>
          </a:p>
          <a:p>
            <a:pPr>
              <a:spcAft>
                <a:spcPts val="1200"/>
              </a:spcAft>
              <a:defRPr sz="1600">
                <a:solidFill>
                  <a:srgbClr val="1A2421"/>
                </a:solidFill>
                <a:latin typeface="맑은 고딕"/>
              </a:defRPr>
            </a:pPr>
            <a:r>
              <a:t>•  필터·활동 그래프·안전 확인 이력 관리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5440680"/>
            <a:ext cx="3611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5440680"/>
            <a:ext cx="3611880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23C34"/>
                </a:solidFill>
                <a:latin typeface="맑은 고딕"/>
              </a:rPr>
              <a:t>핵심 방향은 유지, 관제 운영 기능은 확대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프로젝트 계획서 · README · 코드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센서 노드부터 관제 화면까지 이어지는 데이터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2148840"/>
            <a:ext cx="384048" cy="384048"/>
          </a:xfrm>
          <a:prstGeom prst="roundRect">
            <a:avLst/>
          </a:prstGeom>
          <a:solidFill>
            <a:srgbClr val="3E7ED1"/>
          </a:solidFill>
          <a:ln w="12700">
            <a:solidFill>
              <a:srgbClr val="3E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21408"/>
            <a:ext cx="868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23C34"/>
                </a:solidFill>
                <a:latin typeface="맑은 고딕"/>
              </a:rPr>
              <a:t>센서 노드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87752"/>
            <a:ext cx="1289304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5B6E68"/>
                </a:solidFill>
                <a:latin typeface="맑은 고딕"/>
              </a:rPr>
              <a:t>PIR · 압력 · LD2410
생활 활동 감지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96596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90672" y="2148840"/>
            <a:ext cx="384048" cy="384048"/>
          </a:xfrm>
          <a:prstGeom prst="roundRect">
            <a:avLst/>
          </a:prstGeom>
          <a:solidFill>
            <a:srgbClr val="168B67"/>
          </a:solidFill>
          <a:ln w="12700">
            <a:solidFill>
              <a:srgbClr val="16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2148840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121408"/>
            <a:ext cx="868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23C34"/>
                </a:solidFill>
                <a:latin typeface="맑은 고딕"/>
              </a:rPr>
              <a:t>ESP32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587752"/>
            <a:ext cx="1289304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5B6E68"/>
                </a:solidFill>
                <a:latin typeface="맑은 고딕"/>
              </a:rPr>
              <a:t>C/C++ 펌웨어
Wi-Fi 설정 · JSON 전송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6596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22392" y="2148840"/>
            <a:ext cx="384048" cy="384048"/>
          </a:xfrm>
          <a:prstGeom prst="roundRect">
            <a:avLst/>
          </a:prstGeom>
          <a:solidFill>
            <a:srgbClr val="B87600"/>
          </a:solidFill>
          <a:ln w="12700">
            <a:solidFill>
              <a:srgbClr val="B8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2" y="2148840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2121408"/>
            <a:ext cx="868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23C34"/>
                </a:solidFill>
                <a:latin typeface="맑은 고딕"/>
              </a:rPr>
              <a:t>FastAPI 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2587752"/>
            <a:ext cx="1289304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5B6E68"/>
                </a:solidFill>
                <a:latin typeface="맑은 고딕"/>
              </a:rPr>
              <a:t>REST API · 상태 판정
알림·보고서 서비스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96596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54112" y="2148840"/>
            <a:ext cx="384048" cy="384048"/>
          </a:xfrm>
          <a:prstGeom prst="roundRect">
            <a:avLst/>
          </a:prstGeom>
          <a:solidFill>
            <a:srgbClr val="CC3946"/>
          </a:solidFill>
          <a:ln w="12700">
            <a:solidFill>
              <a:srgbClr val="CC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148840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121408"/>
            <a:ext cx="868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23C34"/>
                </a:solidFill>
                <a:latin typeface="맑은 고딕"/>
              </a:rPr>
              <a:t>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2587752"/>
            <a:ext cx="1289304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5B6E68"/>
                </a:solidFill>
                <a:latin typeface="맑은 고딕"/>
              </a:rPr>
              <a:t>장치 · 센서 로그
알림 · 처리 이력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196596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85832" y="2148840"/>
            <a:ext cx="384048" cy="384048"/>
          </a:xfrm>
          <a:prstGeom prst="roundRect">
            <a:avLst/>
          </a:prstGeom>
          <a:solidFill>
            <a:srgbClr val="123C34"/>
          </a:solidFill>
          <a:ln w="12700">
            <a:solidFill>
              <a:srgbClr val="123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85832" y="2148840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9608" y="2121408"/>
            <a:ext cx="868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23C34"/>
                </a:solidFill>
                <a:latin typeface="맑은 고딕"/>
              </a:rPr>
              <a:t>웹 관제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08" y="2587752"/>
            <a:ext cx="1289304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5B6E68"/>
                </a:solidFill>
                <a:latin typeface="맑은 고딕"/>
              </a:rPr>
              <a:t>대시보드 · 장치 관리
안전 대응 워크플로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04288" y="2542032"/>
            <a:ext cx="594360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36008" y="2542032"/>
            <a:ext cx="594360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67728" y="2542032"/>
            <a:ext cx="594360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99448" y="2542032"/>
            <a:ext cx="594360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" y="3886200"/>
            <a:ext cx="10927080" cy="150876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160520"/>
            <a:ext cx="11887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3C34"/>
                </a:solidFill>
                <a:latin typeface="맑은 고딕"/>
              </a:rPr>
              <a:t>배포 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087368"/>
            <a:ext cx="87782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68B67"/>
                </a:solidFill>
                <a:latin typeface="맑은 고딕"/>
              </a:rPr>
              <a:t>Docker Compose</a:t>
            </a:r>
            <a:r>
              <a:rPr sz="1400" b="0">
                <a:solidFill>
                  <a:srgbClr val="1A2421"/>
                </a:solidFill>
                <a:latin typeface="맑은 고딕"/>
              </a:rPr>
              <a:t>로 Windows 개발 환경과 Raspberry Pi ARM64 운영 환경을 공통 구성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617720"/>
            <a:ext cx="87782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Named volume으로 SQLite DB를 보존하고, 헬스체크와 자동 재시작으로 운영 안정성을 확보합니다.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프로젝트 계획서 · README · 코드 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센서 데이터 처리와 위험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수신 패킷을 활동 여부로 변환하고 상태·알림을 갱신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9933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84831"/>
            <a:ext cx="457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3C34"/>
                </a:solidFill>
                <a:latin typeface="맑은 고딕"/>
              </a:rPr>
              <a:t>데이터 수신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맑은 고딕"/>
              </a:rPr>
              <a:t>PIR · 레이더 · 압력
배터리 · Wi-Fi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651760"/>
            <a:ext cx="256032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44368" y="1874519"/>
            <a:ext cx="19933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27248" y="2084831"/>
            <a:ext cx="457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42316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3C34"/>
                </a:solidFill>
                <a:latin typeface="맑은 고딕"/>
              </a:rPr>
              <a:t>활동 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834640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맑은 고딕"/>
              </a:rPr>
              <a:t>PIR 움직임 또는
압력 변화량 ≥ 임계값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56048" y="2651760"/>
            <a:ext cx="256032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48656" y="1874519"/>
            <a:ext cx="19933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2084831"/>
            <a:ext cx="457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242316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3C34"/>
                </a:solidFill>
                <a:latin typeface="맑은 고딕"/>
              </a:rPr>
              <a:t>시간 계산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834640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맑은 고딕"/>
              </a:rPr>
              <a:t>마지막 활동 시각부터
무활동 시간 계산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60336" y="2651760"/>
            <a:ext cx="256032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52944" y="1874519"/>
            <a:ext cx="19933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35824" y="2084831"/>
            <a:ext cx="457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242316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3C34"/>
                </a:solidFill>
                <a:latin typeface="맑은 고딕"/>
              </a:rPr>
              <a:t>상태 판정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2834640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맑은 고딕"/>
              </a:rPr>
              <a:t>normal → warning → danger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64624" y="2651760"/>
            <a:ext cx="256032" cy="0"/>
          </a:xfrm>
          <a:prstGeom prst="line">
            <a:avLst/>
          </a:prstGeom>
          <a:ln w="25400">
            <a:solidFill>
              <a:srgbClr val="168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57232" y="1874519"/>
            <a:ext cx="19933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40112" y="2084831"/>
            <a:ext cx="457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42316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23C34"/>
                </a:solidFill>
                <a:latin typeface="맑은 고딕"/>
              </a:rPr>
              <a:t>알림 처리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2834640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맑은 고딕"/>
              </a:rPr>
              <a:t>위험 알림 1건 유지
활동 재감지 시 자동 해제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0690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" y="4069080"/>
            <a:ext cx="64008" cy="1417320"/>
          </a:xfrm>
          <a:prstGeom prst="rect">
            <a:avLst/>
          </a:prstGeom>
          <a:solidFill>
            <a:srgbClr val="168B67"/>
          </a:solidFill>
          <a:ln w="12700">
            <a:solidFill>
              <a:srgbClr val="16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98648" y="4773168"/>
            <a:ext cx="438912" cy="438912"/>
          </a:xfrm>
          <a:prstGeom prst="roundRect">
            <a:avLst/>
          </a:prstGeom>
          <a:solidFill>
            <a:srgbClr val="DCF4EB"/>
          </a:solidFill>
          <a:ln w="12700">
            <a:solidFill>
              <a:srgbClr val="DC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3000" y="4315968"/>
            <a:ext cx="1554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B6E68"/>
                </a:solidFill>
                <a:latin typeface="맑은 고딕"/>
              </a:rPr>
              <a:t>안전 NORMAL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572000"/>
            <a:ext cx="13716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68B67"/>
                </a:solidFill>
                <a:latin typeface="맑은 고딕"/>
              </a:rPr>
              <a:t>&lt; 6h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120640"/>
            <a:ext cx="1828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E68"/>
                </a:solidFill>
                <a:latin typeface="맑은 고딕"/>
              </a:rPr>
              <a:t>최근 활동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0690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46320" y="4069080"/>
            <a:ext cx="64008" cy="1417320"/>
          </a:xfrm>
          <a:prstGeom prst="rect">
            <a:avLst/>
          </a:prstGeom>
          <a:solidFill>
            <a:srgbClr val="B87600"/>
          </a:solidFill>
          <a:ln w="12700">
            <a:solidFill>
              <a:srgbClr val="B8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784848" y="4773168"/>
            <a:ext cx="438912" cy="438912"/>
          </a:xfrm>
          <a:prstGeom prst="roundRect">
            <a:avLst/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315968"/>
            <a:ext cx="1554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B6E68"/>
                </a:solidFill>
                <a:latin typeface="맑은 고딕"/>
              </a:rPr>
              <a:t>주의 WARNING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572000"/>
            <a:ext cx="13716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B87600"/>
                </a:solidFill>
                <a:latin typeface="맑은 고딕"/>
              </a:rPr>
              <a:t>6~12h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120640"/>
            <a:ext cx="1828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E68"/>
                </a:solidFill>
                <a:latin typeface="맑은 고딕"/>
              </a:rPr>
              <a:t>선제 확인 필요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406908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732520" y="4069080"/>
            <a:ext cx="64008" cy="1417320"/>
          </a:xfrm>
          <a:prstGeom prst="rect">
            <a:avLst/>
          </a:prstGeom>
          <a:solidFill>
            <a:srgbClr val="CC3946"/>
          </a:solidFill>
          <a:ln w="12700">
            <a:solidFill>
              <a:srgbClr val="CC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671048" y="4773168"/>
            <a:ext cx="438912" cy="438912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F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15400" y="4315968"/>
            <a:ext cx="1554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B6E68"/>
                </a:solidFill>
                <a:latin typeface="맑은 고딕"/>
              </a:rPr>
              <a:t>위험 DANGER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4572000"/>
            <a:ext cx="13716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CC3946"/>
                </a:solidFill>
                <a:latin typeface="맑은 고딕"/>
              </a:rPr>
              <a:t>≥ 12h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120640"/>
            <a:ext cx="1828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E68"/>
                </a:solidFill>
                <a:latin typeface="맑은 고딕"/>
              </a:rPr>
              <a:t>즉시 안전 대응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943600"/>
            <a:ext cx="1078992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맑은 고딕"/>
              </a:rPr>
              <a:t>※ 운영 기준은 환경 변수로 변경 가능하며, 현재 코드는 warning과 danger 임계값을 독립 설정합니다.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근거: app/routers/sensor.py · app/services/status_service.py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코드 구조와 핵심 모듈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기능별 Router와 Service를 분리한 FastAPI 애플리케이션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514600" cy="109728"/>
          </a:xfrm>
          <a:prstGeom prst="rect">
            <a:avLst/>
          </a:prstGeom>
          <a:solidFill>
            <a:srgbClr val="3E7ED1"/>
          </a:solidFill>
          <a:ln w="12700">
            <a:solidFill>
              <a:srgbClr val="3E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routers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011680" cy="4572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5B6E68"/>
                </a:solidFill>
                <a:latin typeface="맑은 고딕"/>
              </a:rPr>
              <a:t>sensor · status · alerts
 devices · reports ·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8288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3008" y="1828800"/>
            <a:ext cx="2514600" cy="109728"/>
          </a:xfrm>
          <a:prstGeom prst="rect">
            <a:avLst/>
          </a:prstGeom>
          <a:solidFill>
            <a:srgbClr val="168B67"/>
          </a:solidFill>
          <a:ln w="12700">
            <a:solidFill>
              <a:srgbClr val="16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121408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606040"/>
            <a:ext cx="2011680" cy="4572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5B6E68"/>
                </a:solidFill>
                <a:latin typeface="맑은 고딕"/>
              </a:rPr>
              <a:t>상태 계산
위험 알림 생성·해제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8288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45936" y="1828800"/>
            <a:ext cx="2514600" cy="109728"/>
          </a:xfrm>
          <a:prstGeom prst="rect">
            <a:avLst/>
          </a:prstGeom>
          <a:solidFill>
            <a:srgbClr val="B87600"/>
          </a:solidFill>
          <a:ln w="12700">
            <a:solidFill>
              <a:srgbClr val="B8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2121408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606040"/>
            <a:ext cx="2011680" cy="4572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5B6E68"/>
                </a:solidFill>
                <a:latin typeface="맑은 고딕"/>
              </a:rPr>
              <a:t>Device · SensorLog
Alert · AlertActionLog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3" y="182880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98863" y="1828800"/>
            <a:ext cx="2514600" cy="109728"/>
          </a:xfrm>
          <a:prstGeom prst="rect">
            <a:avLst/>
          </a:prstGeom>
          <a:solidFill>
            <a:srgbClr val="CC3946"/>
          </a:solidFill>
          <a:ln w="12700">
            <a:solidFill>
              <a:srgbClr val="CC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27463" y="2121408"/>
            <a:ext cx="1920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static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3" y="2606040"/>
            <a:ext cx="2011680" cy="4572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5B6E68"/>
                </a:solidFill>
                <a:latin typeface="맑은 고딕"/>
              </a:rPr>
              <a:t>대시보드 · 장치 관리
안전 확인 로그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03320"/>
            <a:ext cx="5486400" cy="2011680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977639"/>
            <a:ext cx="1828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68B67"/>
                </a:solidFill>
                <a:latin typeface="맑은 고딕"/>
              </a:rPr>
              <a:t>구현 강점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4846320" cy="10972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새 device_id 자동 등록과 부분 센서 업데이트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열린 danger 알림 중복 생성 방지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활동 재감지 시 상태 정상화와 알림 자동 해제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처리 단계·담당자 연락망·완료 이력까지 데이터화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703320"/>
            <a:ext cx="5166360" cy="201168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977639"/>
            <a:ext cx="22860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CC3946"/>
                </a:solidFill>
                <a:latin typeface="맑은 고딕"/>
              </a:rPr>
              <a:t>현재 범위와 개선점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434840"/>
            <a:ext cx="4480560" cy="10972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실제 SMS·Push 발송 모듈은 아직 미연동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사용자 인증·권한 관리 기능 보강 필요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계획서의 Raspberry Pi 게이트웨이는 현재 저장소에 미포함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SQLite 단일 서버 구조는 대규모 운영 전 DB 전환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근거: app/ 전체 코드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통합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위험 대상 우선 노출과 실시간 센서·알림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664208"/>
            <a:ext cx="7635240" cy="4526280"/>
          </a:xfrm>
          <a:prstGeom prst="roundRect">
            <a:avLst/>
          </a:prstGeom>
          <a:noFill/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23851"/>
            <a:ext cx="7635240" cy="53215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755648"/>
            <a:ext cx="31272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10640" y="1982551"/>
            <a:ext cx="1622368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lang="ko-KR" altLang="en-US" b="1" dirty="0">
                <a:solidFill>
                  <a:srgbClr val="5B6E68"/>
                </a:solidFill>
                <a:latin typeface="맑은 고딕"/>
              </a:rPr>
              <a:t>전체 등록 장치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79776"/>
            <a:ext cx="31272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8354" y="3006679"/>
            <a:ext cx="1907703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lang="ko-KR" altLang="en-US" b="1" dirty="0">
                <a:solidFill>
                  <a:srgbClr val="5B6E68"/>
                </a:solidFill>
                <a:latin typeface="맑은 고딕"/>
              </a:rPr>
              <a:t>안전 </a:t>
            </a:r>
            <a:r>
              <a:rPr lang="en-US" altLang="ko-KR" b="1" dirty="0">
                <a:solidFill>
                  <a:srgbClr val="5B6E68"/>
                </a:solidFill>
                <a:latin typeface="맑은 고딕"/>
              </a:rPr>
              <a:t>· </a:t>
            </a:r>
            <a:r>
              <a:rPr lang="ko-KR" altLang="en-US" b="1" dirty="0">
                <a:solidFill>
                  <a:srgbClr val="5B6E68"/>
                </a:solidFill>
                <a:latin typeface="맑은 고딕"/>
              </a:rPr>
              <a:t>주의 </a:t>
            </a:r>
            <a:r>
              <a:rPr lang="en-US" altLang="ko-KR" b="1" dirty="0">
                <a:solidFill>
                  <a:srgbClr val="5B6E68"/>
                </a:solidFill>
                <a:latin typeface="맑은 고딕"/>
              </a:rPr>
              <a:t>· </a:t>
            </a:r>
            <a:r>
              <a:rPr lang="ko-KR" altLang="en-US" b="1" dirty="0">
                <a:solidFill>
                  <a:srgbClr val="5B6E68"/>
                </a:solidFill>
                <a:latin typeface="맑은 고딕"/>
              </a:rPr>
              <a:t>위험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803904"/>
            <a:ext cx="31272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91028" y="4030807"/>
            <a:ext cx="2061591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lang="ko-KR" altLang="en-US" b="1" dirty="0">
                <a:solidFill>
                  <a:srgbClr val="5B6E68"/>
                </a:solidFill>
                <a:latin typeface="맑은 고딕"/>
              </a:rPr>
              <a:t>상위 </a:t>
            </a:r>
            <a:r>
              <a:rPr lang="en-US" altLang="ko-KR" b="1" dirty="0">
                <a:solidFill>
                  <a:srgbClr val="5B6E68"/>
                </a:solidFill>
                <a:latin typeface="맑은 고딕"/>
              </a:rPr>
              <a:t>6</a:t>
            </a:r>
            <a:r>
              <a:rPr lang="ko-KR" altLang="en-US" b="1" dirty="0">
                <a:solidFill>
                  <a:srgbClr val="5B6E68"/>
                </a:solidFill>
                <a:latin typeface="맑은 고딕"/>
              </a:rPr>
              <a:t>개 장치 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828032"/>
            <a:ext cx="31272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0637" y="5054935"/>
            <a:ext cx="1078950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b="1" dirty="0" err="1">
                <a:solidFill>
                  <a:srgbClr val="5B6E68"/>
                </a:solidFill>
                <a:latin typeface="맑은 고딕"/>
              </a:rPr>
              <a:t>자동</a:t>
            </a:r>
            <a:r>
              <a:rPr b="1" dirty="0">
                <a:solidFill>
                  <a:srgbClr val="5B6E68"/>
                </a:solidFill>
                <a:latin typeface="맑은 고딕"/>
              </a:rPr>
              <a:t> </a:t>
            </a:r>
            <a:r>
              <a:rPr b="1" dirty="0" err="1">
                <a:solidFill>
                  <a:srgbClr val="5B6E68"/>
                </a:solidFill>
                <a:latin typeface="맑은 고딕"/>
              </a:rPr>
              <a:t>갱신</a:t>
            </a:r>
            <a:endParaRPr b="1" dirty="0">
              <a:solidFill>
                <a:srgbClr val="5B6E68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85632" y="5715000"/>
            <a:ext cx="15544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dirty="0" err="1">
                <a:solidFill>
                  <a:srgbClr val="168B67"/>
                </a:solidFill>
                <a:latin typeface="맑은 고딕"/>
              </a:rPr>
              <a:t>발표</a:t>
            </a:r>
            <a:r>
              <a:rPr sz="1200" b="1" dirty="0">
                <a:solidFill>
                  <a:srgbClr val="168B67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68B67"/>
                </a:solidFill>
                <a:latin typeface="맑은 고딕"/>
              </a:rPr>
              <a:t>시연</a:t>
            </a:r>
            <a:r>
              <a:rPr sz="1200" b="1" dirty="0">
                <a:solidFill>
                  <a:srgbClr val="168B67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68B67"/>
                </a:solidFill>
                <a:latin typeface="맑은 고딕"/>
              </a:rPr>
              <a:t>포인트</a:t>
            </a:r>
            <a:endParaRPr sz="1200" b="1" dirty="0">
              <a:solidFill>
                <a:srgbClr val="168B67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92" y="6013010"/>
            <a:ext cx="393192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50" b="0" dirty="0" err="1">
                <a:solidFill>
                  <a:srgbClr val="1A2421"/>
                </a:solidFill>
                <a:latin typeface="맑은 고딕"/>
              </a:rPr>
              <a:t>상태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변화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→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위험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알림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→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안전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확인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완료를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한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화면에서</a:t>
            </a:r>
            <a:r>
              <a:rPr sz="1050" b="0" dirty="0">
                <a:solidFill>
                  <a:srgbClr val="1A2421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1A2421"/>
                </a:solidFill>
                <a:latin typeface="맑은 고딕"/>
              </a:rPr>
              <a:t>확인</a:t>
            </a:r>
            <a:endParaRPr sz="1050" b="0" dirty="0">
              <a:solidFill>
                <a:srgbClr val="1A2421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직접 촬영: http://localhost:8000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장치 관리와 이상 대상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다수 가구 운영을 위한 검색·필터·정렬·처리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664208"/>
            <a:ext cx="7955279" cy="4553712"/>
          </a:xfrm>
          <a:prstGeom prst="roundRect">
            <a:avLst/>
          </a:prstGeom>
          <a:noFill/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0"/>
            <a:ext cx="7955279" cy="85940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783080"/>
            <a:ext cx="2834640" cy="4251960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6840" y="2057400"/>
            <a:ext cx="15544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123C34"/>
                </a:solidFill>
                <a:latin typeface="맑은 고딕"/>
              </a:rPr>
              <a:t>운영자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651760"/>
            <a:ext cx="2240280" cy="24688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상태·연결·위치·센서</a:t>
            </a:r>
            <a:r>
              <a:rPr dirty="0"/>
              <a:t> </a:t>
            </a:r>
            <a:r>
              <a:rPr dirty="0" err="1"/>
              <a:t>조건별</a:t>
            </a:r>
            <a:r>
              <a:rPr dirty="0"/>
              <a:t> </a:t>
            </a:r>
            <a:r>
              <a:rPr dirty="0" err="1"/>
              <a:t>필터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우선</a:t>
            </a:r>
            <a:r>
              <a:rPr dirty="0"/>
              <a:t> / </a:t>
            </a: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수신</a:t>
            </a:r>
            <a:r>
              <a:rPr dirty="0"/>
              <a:t> / </a:t>
            </a:r>
            <a:r>
              <a:rPr dirty="0" err="1"/>
              <a:t>무활동</a:t>
            </a:r>
            <a:r>
              <a:rPr dirty="0"/>
              <a:t> </a:t>
            </a:r>
            <a:r>
              <a:rPr dirty="0" err="1"/>
              <a:t>정렬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배터리·Wi-Fi·침대·사람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rPr dirty="0"/>
              <a:t>•  24시간 </a:t>
            </a:r>
            <a:r>
              <a:rPr dirty="0" err="1"/>
              <a:t>활동</a:t>
            </a:r>
            <a:r>
              <a:rPr dirty="0"/>
              <a:t> </a:t>
            </a:r>
            <a:r>
              <a:rPr dirty="0" err="1"/>
              <a:t>그래프와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사유</a:t>
            </a:r>
            <a:r>
              <a:rPr dirty="0"/>
              <a:t> </a:t>
            </a:r>
            <a:r>
              <a:rPr dirty="0" err="1"/>
              <a:t>조회</a:t>
            </a:r>
            <a:endParaRPr dirty="0"/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보호자·담당자</a:t>
            </a:r>
            <a:r>
              <a:rPr dirty="0"/>
              <a:t> </a:t>
            </a:r>
            <a:r>
              <a:rPr dirty="0" err="1"/>
              <a:t>연락처와</a:t>
            </a:r>
            <a:r>
              <a:rPr dirty="0"/>
              <a:t> </a:t>
            </a:r>
            <a:r>
              <a:rPr dirty="0" err="1"/>
              <a:t>우선순위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979408" y="5230368"/>
            <a:ext cx="2331720" cy="502920"/>
          </a:xfrm>
          <a:prstGeom prst="roundRect">
            <a:avLst/>
          </a:prstGeom>
          <a:solidFill>
            <a:srgbClr val="123C34"/>
          </a:solidFill>
          <a:ln w="12700">
            <a:solidFill>
              <a:srgbClr val="123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5257800"/>
            <a:ext cx="217627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복지 담당자의 관제 업무를 화면 중심으로 표준화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직접 촬영: http://localhost:8000/devices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위험 알림 대응 워크플로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감지에서 현장 확인까지 처리 단계를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55648"/>
            <a:ext cx="1572768" cy="658368"/>
          </a:xfrm>
          <a:prstGeom prst="roundRect">
            <a:avLst/>
          </a:prstGeom>
          <a:solidFill>
            <a:srgbClr val="CC3946"/>
          </a:solidFill>
          <a:ln w="12700">
            <a:solidFill>
              <a:srgbClr val="CC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572768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위험 감지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39696" y="2084831"/>
            <a:ext cx="274320" cy="0"/>
          </a:xfrm>
          <a:prstGeom prst="line">
            <a:avLst/>
          </a:prstGeom>
          <a:ln w="25400">
            <a:solidFill>
              <a:srgbClr val="5B6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80" y="1755648"/>
            <a:ext cx="1572768" cy="658368"/>
          </a:xfrm>
          <a:prstGeom prst="roundRect">
            <a:avLst/>
          </a:prstGeom>
          <a:solidFill>
            <a:srgbClr val="E36948"/>
          </a:solidFill>
          <a:ln w="12700">
            <a:solidFill>
              <a:srgbClr val="E36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0" y="1755648"/>
            <a:ext cx="1572768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보호자 알림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41648" y="2084831"/>
            <a:ext cx="274320" cy="0"/>
          </a:xfrm>
          <a:prstGeom prst="line">
            <a:avLst/>
          </a:prstGeom>
          <a:ln w="25400">
            <a:solidFill>
              <a:srgbClr val="5B6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70832" y="1755648"/>
            <a:ext cx="1572768" cy="658368"/>
          </a:xfrm>
          <a:prstGeom prst="roundRect">
            <a:avLst/>
          </a:prstGeom>
          <a:solidFill>
            <a:srgbClr val="B87600"/>
          </a:solidFill>
          <a:ln w="12700">
            <a:solidFill>
              <a:srgbClr val="B8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1755648"/>
            <a:ext cx="1572768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응답 대기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2084831"/>
            <a:ext cx="274320" cy="0"/>
          </a:xfrm>
          <a:prstGeom prst="line">
            <a:avLst/>
          </a:prstGeom>
          <a:ln w="25400">
            <a:solidFill>
              <a:srgbClr val="5B6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72784" y="1755648"/>
            <a:ext cx="1572768" cy="658368"/>
          </a:xfrm>
          <a:prstGeom prst="roundRect">
            <a:avLst/>
          </a:prstGeom>
          <a:solidFill>
            <a:srgbClr val="3E7ED1"/>
          </a:solidFill>
          <a:ln w="12700">
            <a:solidFill>
              <a:srgbClr val="3E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4" y="1755648"/>
            <a:ext cx="1572768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관리자 확인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45552" y="2084831"/>
            <a:ext cx="274320" cy="0"/>
          </a:xfrm>
          <a:prstGeom prst="line">
            <a:avLst/>
          </a:prstGeom>
          <a:ln w="25400">
            <a:solidFill>
              <a:srgbClr val="5B6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74736" y="1755648"/>
            <a:ext cx="1572768" cy="658368"/>
          </a:xfrm>
          <a:prstGeom prst="roundRect">
            <a:avLst/>
          </a:prstGeom>
          <a:solidFill>
            <a:srgbClr val="168B67"/>
          </a:solidFill>
          <a:ln w="12700">
            <a:solidFill>
              <a:srgbClr val="168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1755648"/>
            <a:ext cx="1572768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현장 방문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47504" y="2084831"/>
            <a:ext cx="274320" cy="0"/>
          </a:xfrm>
          <a:prstGeom prst="line">
            <a:avLst/>
          </a:prstGeom>
          <a:ln w="25400">
            <a:solidFill>
              <a:srgbClr val="5B6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76688" y="1755648"/>
            <a:ext cx="1572768" cy="658368"/>
          </a:xfrm>
          <a:prstGeom prst="roundRect">
            <a:avLst/>
          </a:prstGeom>
          <a:solidFill>
            <a:srgbClr val="123C34"/>
          </a:solidFill>
          <a:ln w="12700">
            <a:solidFill>
              <a:srgbClr val="123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76688" y="1755648"/>
            <a:ext cx="1572768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안전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2697480"/>
            <a:ext cx="7040880" cy="3337560"/>
          </a:xfrm>
          <a:prstGeom prst="roundRect">
            <a:avLst/>
          </a:prstGeom>
          <a:noFill/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re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4" y="493776"/>
            <a:ext cx="7040880" cy="7126051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882127" y="2697480"/>
            <a:ext cx="3703320" cy="333756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79" y="2971800"/>
            <a:ext cx="25603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처리 이력에 남는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566160"/>
            <a:ext cx="2907792" cy="205740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t>•  위험이 발생한 원인과 시각</a:t>
            </a:r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t>•  보호자·담당자 전달 및 단계 변경 로그</a:t>
            </a:r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t>•  현장 방문·전화·센서 점검 등 확인 방식</a:t>
            </a:r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t>•  최종 처리 단계와 상세 메모</a:t>
            </a:r>
          </a:p>
          <a:p>
            <a:pPr>
              <a:spcAft>
                <a:spcPts val="1000"/>
              </a:spcAft>
              <a:defRPr sz="1300">
                <a:solidFill>
                  <a:srgbClr val="1A2421"/>
                </a:solidFill>
                <a:latin typeface="맑은 고딕"/>
              </a:defRPr>
            </a:pPr>
            <a:r>
              <a:t>•  새로고침 후에도 유지되는 공식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직접 촬영: http://localhost:8000/resolutions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REST API와 운영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센서·관제 화면·운영 도구가 동일한 API를 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664208"/>
            <a:ext cx="6903720" cy="4526280"/>
          </a:xfrm>
          <a:prstGeom prst="roundRect">
            <a:avLst/>
          </a:prstGeom>
          <a:noFill/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-136543"/>
            <a:ext cx="6903720" cy="81277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99248" y="1719072"/>
            <a:ext cx="3886200" cy="1874519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965960"/>
            <a:ext cx="1371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주요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423160"/>
            <a:ext cx="3154680" cy="9601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1A2421"/>
                </a:solidFill>
                <a:latin typeface="Cascadia Mono"/>
              </a:rPr>
              <a:t>POST  /api/sensor-data
GET   /api/status · /api/activity
GET   /api/alerts · /api/reports
POST  /api/alerts/{id}/workflow/action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3822191"/>
            <a:ext cx="3886200" cy="214884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4069080"/>
            <a:ext cx="13716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운영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4526280"/>
            <a:ext cx="3108960" cy="123444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Docker Compose 단일 명령 실행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Windows 개발: Uvicorn reload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Raspberry Pi: restart unless-stopped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Named volume DB 영구 저장</a:t>
            </a:r>
          </a:p>
          <a:p>
            <a:pPr>
              <a:spcAft>
                <a:spcPts val="700"/>
              </a:spcAft>
              <a:defRPr sz="1250">
                <a:solidFill>
                  <a:srgbClr val="1A2421"/>
                </a:solidFill>
                <a:latin typeface="맑은 고딕"/>
              </a:defRPr>
            </a:pPr>
            <a:r>
              <a:t>•  /health 기반 컨테이너 헬스체크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직접 촬영: http://localhost:8000/docs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572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68B67"/>
                </a:solidFill>
                <a:latin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8813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23C34"/>
                </a:solidFill>
                <a:latin typeface="맑은 고딕"/>
              </a:rPr>
              <a:t>실행 검증과 시연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247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맑은 고딕"/>
              </a:rPr>
              <a:t>Docker 환경에서 실제 화면과 API 응답을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11155680" cy="18288"/>
          </a:xfrm>
          <a:prstGeom prst="rect">
            <a:avLst/>
          </a:prstGeom>
          <a:solidFill>
            <a:srgbClr val="D7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993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75688" y="2331720"/>
            <a:ext cx="320040" cy="320040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93392"/>
            <a:ext cx="109728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123C34"/>
                </a:solidFill>
                <a:latin typeface="맑은 고딕"/>
              </a:rPr>
              <a:t>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1460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B6E68"/>
                </a:solidFill>
                <a:latin typeface="맑은 고딕"/>
              </a:rPr>
              <a:t>등록 장치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1783080"/>
            <a:ext cx="1993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9976" y="2331720"/>
            <a:ext cx="320040" cy="320040"/>
          </a:xfrm>
          <a:prstGeom prst="roundRect">
            <a:avLst/>
          </a:prstGeom>
          <a:solidFill>
            <a:srgbClr val="DCF4EB"/>
          </a:solidFill>
          <a:ln w="12700">
            <a:solidFill>
              <a:srgbClr val="DC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2384" y="1993392"/>
            <a:ext cx="109728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168B67"/>
                </a:solidFill>
                <a:latin typeface="맑은 고딕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51460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B6E68"/>
                </a:solidFill>
                <a:latin typeface="맑은 고딕"/>
              </a:rPr>
              <a:t>안전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783080"/>
            <a:ext cx="1993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84264" y="2331720"/>
            <a:ext cx="320040" cy="320040"/>
          </a:xfrm>
          <a:prstGeom prst="roundRect">
            <a:avLst/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76672" y="1993392"/>
            <a:ext cx="109728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B87600"/>
                </a:solidFill>
                <a:latin typeface="맑은 고딕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51460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B6E68"/>
                </a:solidFill>
                <a:latin typeface="맑은 고딕"/>
              </a:rPr>
              <a:t>주의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783080"/>
            <a:ext cx="1993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88552" y="2331720"/>
            <a:ext cx="320040" cy="3200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F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1993392"/>
            <a:ext cx="109728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CC3946"/>
                </a:solidFill>
                <a:latin typeface="맑은 고딕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51460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B6E68"/>
                </a:solidFill>
                <a:latin typeface="맑은 고딕"/>
              </a:rPr>
              <a:t>위험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783080"/>
            <a:ext cx="19933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292840" y="2331720"/>
            <a:ext cx="320040" cy="3200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F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85248" y="1993392"/>
            <a:ext cx="109728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CC3946"/>
                </a:solidFill>
                <a:latin typeface="맑은 고딕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51460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5B6E68"/>
                </a:solidFill>
                <a:latin typeface="맑은 고딕"/>
              </a:rPr>
              <a:t>미해결 알림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37560"/>
            <a:ext cx="5440680" cy="2423160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611880"/>
            <a:ext cx="1645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68B67"/>
                </a:solidFill>
                <a:latin typeface="맑은 고딕"/>
              </a:rPr>
              <a:t>검증한 동작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096512"/>
            <a:ext cx="4663440" cy="13258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컨테이너 health 상태 정상</a:t>
            </a:r>
          </a:p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샘플 데이터 50대와 기존 센서 장치 동시 표시</a:t>
            </a:r>
          </a:p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danger 장치별 열린 알림 1건 유지</a:t>
            </a:r>
          </a:p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장치·로그·알림 데이터 volume 영구 저장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337560"/>
            <a:ext cx="5349240" cy="2423160"/>
          </a:xfrm>
          <a:prstGeom prst="roundRect">
            <a:avLst/>
          </a:prstGeom>
          <a:solidFill>
            <a:srgbClr val="F7F9F8"/>
          </a:solidFill>
          <a:ln w="12700">
            <a:solidFill>
              <a:srgbClr val="D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611880"/>
            <a:ext cx="1645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23C34"/>
                </a:solidFill>
                <a:latin typeface="맑은 고딕"/>
              </a:rPr>
              <a:t>발표 시연 순서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096512"/>
            <a:ext cx="4572000" cy="13258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1. 센서 데이터 전송 또는 시뮬레이션</a:t>
            </a:r>
          </a:p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2. normal → warning → danger 상태 변화</a:t>
            </a:r>
          </a:p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3. 위험 알림과 대응 단계 확인</a:t>
            </a:r>
          </a:p>
          <a:p>
            <a:pPr>
              <a:spcAft>
                <a:spcPts val="900"/>
              </a:spcAft>
              <a:defRPr sz="1350">
                <a:solidFill>
                  <a:srgbClr val="1A2421"/>
                </a:solidFill>
                <a:latin typeface="맑은 고딕"/>
              </a:defRPr>
            </a:pPr>
            <a:r>
              <a:t>•  4. 안전 확인 완료 후 정상 복구·이력 저장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37960"/>
            <a:ext cx="51206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B6E68"/>
                </a:solidFill>
                <a:latin typeface="맑은 고딕"/>
              </a:rPr>
              <a:t>검증일: 2026-06-14 · Docker Desktop 로컬 실행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168B67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4"/>
          </a:solidFill>
          <a:ln w="12700">
            <a:solidFill>
              <a:srgbClr val="123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22860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4D7A5"/>
                </a:solidFill>
                <a:latin typeface="맑은 고딕"/>
              </a:rPr>
              <a:t>11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6949440" cy="1325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맑은 고딕"/>
              </a:rPr>
              <a:t>프라이버시를 지키면서
위험 신호를 놓치지 않는 생활 안전망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6217920" cy="7772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CDE7DF"/>
                </a:solidFill>
                <a:latin typeface="맑은 고딕"/>
              </a:rPr>
              <a:t>IoT LoneCare는 센서 데이터 수집을 넘어
감지 → 판정 → 대응 → 기록의 운영 흐름을 구현했습니다.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143000"/>
            <a:ext cx="2057400" cy="1600200"/>
          </a:xfrm>
          <a:prstGeom prst="roundRect">
            <a:avLst/>
          </a:prstGeom>
          <a:solidFill>
            <a:srgbClr val="1A5346"/>
          </a:solidFill>
          <a:ln w="12700">
            <a:solidFill>
              <a:srgbClr val="2F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79208" y="132588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54D7A5"/>
                </a:solidFill>
                <a:latin typeface="맑은 고딕"/>
              </a:rPr>
              <a:t>NEXT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9208" y="1673352"/>
            <a:ext cx="1645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실제 알림 연동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9208" y="2130552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BCDCD3"/>
                </a:solidFill>
                <a:latin typeface="맑은 고딕"/>
              </a:rPr>
              <a:t>SMS · Push · 기관 메시징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59" y="1143000"/>
            <a:ext cx="2057400" cy="1600200"/>
          </a:xfrm>
          <a:prstGeom prst="roundRect">
            <a:avLst/>
          </a:prstGeom>
          <a:solidFill>
            <a:srgbClr val="1A5346"/>
          </a:solidFill>
          <a:ln w="12700">
            <a:solidFill>
              <a:srgbClr val="2F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10927" y="132588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54D7A5"/>
                </a:solidFill>
                <a:latin typeface="맑은 고딕"/>
              </a:rPr>
              <a:t>NEXT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0927" y="1673352"/>
            <a:ext cx="1645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보안 강화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927" y="2130552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BCDCD3"/>
                </a:solidFill>
                <a:latin typeface="맑은 고딕"/>
              </a:rPr>
              <a:t>인증 · 권한 · 전송 암호화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291840"/>
            <a:ext cx="2057400" cy="1600200"/>
          </a:xfrm>
          <a:prstGeom prst="roundRect">
            <a:avLst/>
          </a:prstGeom>
          <a:solidFill>
            <a:srgbClr val="1A5346"/>
          </a:solidFill>
          <a:ln w="12700">
            <a:solidFill>
              <a:srgbClr val="2F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9208" y="347472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54D7A5"/>
                </a:solidFill>
                <a:latin typeface="맑은 고딕"/>
              </a:rPr>
              <a:t>NEXT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3822192"/>
            <a:ext cx="1645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판정 고도화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4279392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BCDCD3"/>
                </a:solidFill>
                <a:latin typeface="맑은 고딕"/>
              </a:rPr>
              <a:t>개인별 기준 · 오탐 감소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59" y="3291840"/>
            <a:ext cx="2057400" cy="1600200"/>
          </a:xfrm>
          <a:prstGeom prst="roundRect">
            <a:avLst/>
          </a:prstGeom>
          <a:solidFill>
            <a:srgbClr val="1A5346"/>
          </a:solidFill>
          <a:ln w="12700">
            <a:solidFill>
              <a:srgbClr val="2F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10927" y="3474720"/>
            <a:ext cx="1371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54D7A5"/>
                </a:solidFill>
                <a:latin typeface="맑은 고딕"/>
              </a:rPr>
              <a:t>NEXT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7" y="3822192"/>
            <a:ext cx="1645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현장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7" y="4279392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BCDCD3"/>
                </a:solidFill>
                <a:latin typeface="맑은 고딕"/>
              </a:rPr>
              <a:t>Raspberry Pi 게이트웨이 · 다기관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25603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54D7A5"/>
                </a:solidFill>
                <a:latin typeface="맑은 고딕"/>
              </a:rPr>
              <a:t>감사합니다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5925312"/>
            <a:ext cx="164592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2300" b="1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1136</Words>
  <Application>Microsoft Office PowerPoint</Application>
  <PresentationFormat>와이드스크린</PresentationFormat>
  <Paragraphs>224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Cascadia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sunhak lee</cp:lastModifiedBy>
  <cp:revision>1</cp:revision>
  <dcterms:created xsi:type="dcterms:W3CDTF">2013-01-27T09:14:16Z</dcterms:created>
  <dcterms:modified xsi:type="dcterms:W3CDTF">2026-06-14T08:00:21Z</dcterms:modified>
  <cp:category/>
</cp:coreProperties>
</file>